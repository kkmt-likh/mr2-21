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42" y="10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0C836-1319-48D3-9360-4A036A75F80E}" type="datetimeFigureOut">
              <a:rPr lang="ru-RU" smtClean="0"/>
              <a:t>22.01.2022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32F87E8-6C18-493D-91F3-3C5206C50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5833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0C836-1319-48D3-9360-4A036A75F80E}" type="datetimeFigureOut">
              <a:rPr lang="ru-RU" smtClean="0"/>
              <a:t>22.01.2022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87E8-6C18-493D-91F3-3C5206C50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1667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0C836-1319-48D3-9360-4A036A75F80E}" type="datetimeFigureOut">
              <a:rPr lang="ru-RU" smtClean="0"/>
              <a:t>22.01.2022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32F87E8-6C18-493D-91F3-3C5206C50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5416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0C836-1319-48D3-9360-4A036A75F80E}" type="datetimeFigureOut">
              <a:rPr lang="ru-RU" smtClean="0"/>
              <a:t>22.01.2022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32F87E8-6C18-493D-91F3-3C5206C50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1151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0C836-1319-48D3-9360-4A036A75F80E}" type="datetimeFigureOut">
              <a:rPr lang="ru-RU" smtClean="0"/>
              <a:t>22.01.2022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32F87E8-6C18-493D-91F3-3C5206C50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7737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0C836-1319-48D3-9360-4A036A75F80E}" type="datetimeFigureOut">
              <a:rPr lang="ru-RU" smtClean="0"/>
              <a:t>22.01.2022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87E8-6C18-493D-91F3-3C5206C50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818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0C836-1319-48D3-9360-4A036A75F80E}" type="datetimeFigureOut">
              <a:rPr lang="ru-RU" smtClean="0"/>
              <a:t>22.01.2022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87E8-6C18-493D-91F3-3C5206C50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0422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0C836-1319-48D3-9360-4A036A75F80E}" type="datetimeFigureOut">
              <a:rPr lang="ru-RU" smtClean="0"/>
              <a:t>22.01.2022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87E8-6C18-493D-91F3-3C5206C50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0965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0C836-1319-48D3-9360-4A036A75F80E}" type="datetimeFigureOut">
              <a:rPr lang="ru-RU" smtClean="0"/>
              <a:t>22.01.2022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32F87E8-6C18-493D-91F3-3C5206C50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7394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0C836-1319-48D3-9360-4A036A75F80E}" type="datetimeFigureOut">
              <a:rPr lang="ru-RU" smtClean="0"/>
              <a:t>22.01.2022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32F87E8-6C18-493D-91F3-3C5206C50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7427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0C836-1319-48D3-9360-4A036A75F80E}" type="datetimeFigureOut">
              <a:rPr lang="ru-RU" smtClean="0"/>
              <a:t>22.01.2022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32F87E8-6C18-493D-91F3-3C5206C50020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637159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0C836-1319-48D3-9360-4A036A75F80E}" type="datetimeFigureOut">
              <a:rPr lang="ru-RU" smtClean="0"/>
              <a:t>22.01.2022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32F87E8-6C18-493D-91F3-3C5206C50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09396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0C836-1319-48D3-9360-4A036A75F80E}" type="datetimeFigureOut">
              <a:rPr lang="ru-RU" smtClean="0"/>
              <a:t>22.01.2022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32F87E8-6C18-493D-91F3-3C5206C50020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181991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0C836-1319-48D3-9360-4A036A75F80E}" type="datetimeFigureOut">
              <a:rPr lang="ru-RU" smtClean="0"/>
              <a:t>22.01.2022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32F87E8-6C18-493D-91F3-3C5206C50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41878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0C836-1319-48D3-9360-4A036A75F80E}" type="datetimeFigureOut">
              <a:rPr lang="ru-RU" smtClean="0"/>
              <a:t>22.01.2022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87E8-6C18-493D-91F3-3C5206C50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20389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0C836-1319-48D3-9360-4A036A75F80E}" type="datetimeFigureOut">
              <a:rPr lang="ru-RU" smtClean="0"/>
              <a:t>22.01.2022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87E8-6C18-493D-91F3-3C5206C50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145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D0C836-1319-48D3-9360-4A036A75F80E}" type="datetimeFigureOut">
              <a:rPr lang="ru-RU" smtClean="0"/>
              <a:t>22.01.2022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32F87E8-6C18-493D-91F3-3C5206C50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377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44698E-C53F-462D-BAB3-FFC8E5035D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99920"/>
            <a:ext cx="9144000" cy="3451474"/>
          </a:xfrm>
        </p:spPr>
        <p:txBody>
          <a:bodyPr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3600" b="1" cap="all" dirty="0">
                <a:solidFill>
                  <a:srgbClr val="084870"/>
                </a:solidFill>
                <a:effectLst/>
                <a:latin typeface="Academy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ru-RU" sz="3500" b="1" cap="all" dirty="0">
                <a:solidFill>
                  <a:srgbClr val="08487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КОЛЛЕДЖ КОСМИЧЕСКОГО МАШИНОСТРОЕНИЯ И ТЕХНОЛОГИЙ</a:t>
            </a:r>
            <a:br>
              <a:rPr lang="ru-RU" sz="3500" b="1" cap="all" dirty="0">
                <a:solidFill>
                  <a:srgbClr val="08487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3500" b="1" cap="all" dirty="0">
                <a:solidFill>
                  <a:srgbClr val="08487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500" b="1" cap="all" dirty="0">
                <a:solidFill>
                  <a:srgbClr val="08487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промежуточная и итоговая аттестация </a:t>
            </a:r>
            <a:br>
              <a:rPr lang="ru-RU" sz="3500" b="1" cap="all" dirty="0">
                <a:solidFill>
                  <a:srgbClr val="08487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9106721-4546-4D59-AA99-07F3D9DC36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287" y="2791326"/>
            <a:ext cx="12067713" cy="4048604"/>
          </a:xfrm>
        </p:spPr>
        <p:txBody>
          <a:bodyPr>
            <a:normAutofit fontScale="85000" lnSpcReduction="20000"/>
          </a:bodyPr>
          <a:lstStyle/>
          <a:p>
            <a:r>
              <a:rPr lang="ru-RU" sz="14000" b="1" cap="all" dirty="0">
                <a:solidFill>
                  <a:srgbClr val="08487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  <a:endParaRPr lang="ru-RU" sz="14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7480" algn="r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</a:pPr>
            <a:r>
              <a:rPr lang="ru-RU" sz="2800" b="1" dirty="0">
                <a:solidFill>
                  <a:srgbClr val="24406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Выполнил: студент 1 курса </a:t>
            </a:r>
            <a:endParaRPr lang="ru-RU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7480" algn="r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</a:pPr>
            <a:r>
              <a:rPr lang="ru-RU" sz="2800" b="1" dirty="0">
                <a:solidFill>
                  <a:srgbClr val="24406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группы МР2-21</a:t>
            </a:r>
            <a:endParaRPr lang="ru-RU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</a:pPr>
            <a:r>
              <a:rPr lang="ru-RU" sz="2800" b="1" dirty="0">
                <a:solidFill>
                  <a:srgbClr val="24406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</a:t>
            </a:r>
            <a:r>
              <a:rPr lang="en-US" sz="2800" b="1" dirty="0">
                <a:solidFill>
                  <a:srgbClr val="24406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ru-RU" sz="2800" b="1" dirty="0">
                <a:solidFill>
                  <a:srgbClr val="24406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Тенихин Виталий                    </a:t>
            </a:r>
            <a:r>
              <a:rPr lang="en-US" sz="2800" b="1" dirty="0">
                <a:solidFill>
                  <a:srgbClr val="24406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ru-RU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</a:pPr>
            <a:r>
              <a:rPr lang="ru-RU" sz="2800" b="1" dirty="0">
                <a:solidFill>
                  <a:srgbClr val="24406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Королев 2021 г.</a:t>
            </a:r>
            <a:endParaRPr lang="ru-RU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/>
            <a:endParaRPr lang="ru-RU" dirty="0"/>
          </a:p>
        </p:txBody>
      </p:sp>
      <p:pic>
        <p:nvPicPr>
          <p:cNvPr id="4" name="Рисунок 3" descr="Описание: mo3543">
            <a:extLst>
              <a:ext uri="{FF2B5EF4-FFF2-40B4-BE49-F238E27FC236}">
                <a16:creationId xmlns:a16="http://schemas.microsoft.com/office/drawing/2014/main" id="{75F159D8-991E-4489-8CB8-BBDA9B15E2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5570" y="18070"/>
            <a:ext cx="1222430" cy="1605627"/>
          </a:xfrm>
          <a:prstGeom prst="rect">
            <a:avLst/>
          </a:prstGeom>
          <a:noFill/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5C50B5C-954E-451D-AD63-9C183982035E}"/>
              </a:ext>
            </a:extLst>
          </p:cNvPr>
          <p:cNvPicPr/>
          <p:nvPr/>
        </p:nvPicPr>
        <p:blipFill>
          <a:blip r:embed="rId3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6297" y="-5707"/>
            <a:ext cx="2336612" cy="1605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 descr="gerb_koroleva (1)">
            <a:extLst>
              <a:ext uri="{FF2B5EF4-FFF2-40B4-BE49-F238E27FC236}">
                <a16:creationId xmlns:a16="http://schemas.microsoft.com/office/drawing/2014/main" id="{6246D957-2EC5-432D-AD8A-C4E12E3C51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340" y="-53262"/>
            <a:ext cx="1311319" cy="165318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19082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ADD4B3-3A5D-4BB0-AC99-55D4F9751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разобраться что такое  промежуточная и итоговая аттестация 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1)Определение что такое промежуточная итоговая аттестация  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2)Сроки и порядок проведения промежуточной аттестаций 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кто допускается к ИА и ГИА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23908E-6B1C-4EBD-823A-D6CE7B4DA578}"/>
              </a:ext>
            </a:extLst>
          </p:cNvPr>
          <p:cNvSpPr txBox="1"/>
          <p:nvPr/>
        </p:nvSpPr>
        <p:spPr>
          <a:xfrm>
            <a:off x="11504612" y="6396335"/>
            <a:ext cx="609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pic>
        <p:nvPicPr>
          <p:cNvPr id="8" name="Picture 2" descr="Картинки по запросу промежуточная аттестация">
            <a:extLst>
              <a:ext uri="{FF2B5EF4-FFF2-40B4-BE49-F238E27FC236}">
                <a16:creationId xmlns:a16="http://schemas.microsoft.com/office/drawing/2014/main" id="{79BC26D3-8215-4F63-B2EC-C332FB01E6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4156" y="3896363"/>
            <a:ext cx="4600456" cy="308997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Картинки по запросу промежуточная аттестация">
            <a:extLst>
              <a:ext uri="{FF2B5EF4-FFF2-40B4-BE49-F238E27FC236}">
                <a16:creationId xmlns:a16="http://schemas.microsoft.com/office/drawing/2014/main" id="{C0D67ED2-B43D-4424-ADCD-ECB224FE22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8571" y="3896363"/>
            <a:ext cx="3343042" cy="2923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3722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5B405F-D39A-4007-AA00-3BC3749BE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Определение </a:t>
            </a:r>
            <a:br>
              <a:rPr lang="ru-RU" b="0" i="0" dirty="0">
                <a:solidFill>
                  <a:srgbClr val="000000"/>
                </a:solidFill>
                <a:effectLst/>
                <a:latin typeface="Linux Libertine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BEB6E6-B6EB-4443-83FF-BFFE0D6C5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009775"/>
            <a:ext cx="8915400" cy="3777622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Промежуточная аттестация – это установление</a:t>
            </a:r>
          </a:p>
          <a:p>
            <a:pPr marL="0" indent="0" algn="l">
              <a:buNone/>
            </a:pPr>
            <a:r>
              <a:rPr lang="ru-RU" sz="2400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уровня достижения результатов освоения учебных</a:t>
            </a:r>
          </a:p>
          <a:p>
            <a:pPr marL="0" indent="0" algn="l">
              <a:buNone/>
            </a:pPr>
            <a:r>
              <a:rPr lang="ru-RU" sz="2400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предметов, курсов, дисциплин (модулей),предусмотренных образовательной программой.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B07C91-380D-4495-951E-6E4CC37EB1E8}"/>
              </a:ext>
            </a:extLst>
          </p:cNvPr>
          <p:cNvSpPr txBox="1"/>
          <p:nvPr/>
        </p:nvSpPr>
        <p:spPr>
          <a:xfrm>
            <a:off x="11120437" y="6396335"/>
            <a:ext cx="609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pic>
        <p:nvPicPr>
          <p:cNvPr id="6" name="Picture 2" descr="Похожее изображение">
            <a:extLst>
              <a:ext uri="{FF2B5EF4-FFF2-40B4-BE49-F238E27FC236}">
                <a16:creationId xmlns:a16="http://schemas.microsoft.com/office/drawing/2014/main" id="{E1CA3630-F7C4-4B08-9E99-C5C35C940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0595" y="3879279"/>
            <a:ext cx="6109842" cy="305492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4458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CBFEA9-9D2E-47B2-A93D-26CCCF9A1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2)Сроки и порядок проведения промежуточной аттестаций </a:t>
            </a:r>
            <a:br>
              <a:rPr lang="ru-RU" b="0" i="0" dirty="0">
                <a:solidFill>
                  <a:srgbClr val="000000"/>
                </a:solidFill>
                <a:effectLst/>
                <a:latin typeface="Linux Libertine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D4749A-82DB-41AF-845A-149D3AA24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ru-RU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Промежуточная аттестация проводится начиная со второго класса.</a:t>
            </a:r>
          </a:p>
          <a:p>
            <a:pPr algn="l"/>
            <a:r>
              <a:rPr lang="ru-RU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Сроки проведения промежуточной аттестации определяются образовательной программой.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48F173-31BD-456E-BC4B-D1CE5347BFE4}"/>
              </a:ext>
            </a:extLst>
          </p:cNvPr>
          <p:cNvSpPr txBox="1"/>
          <p:nvPr/>
        </p:nvSpPr>
        <p:spPr>
          <a:xfrm>
            <a:off x="11504612" y="6396335"/>
            <a:ext cx="609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pic>
        <p:nvPicPr>
          <p:cNvPr id="12" name="Picture 2" descr="Картинки по запросу итоговая аттестация">
            <a:extLst>
              <a:ext uri="{FF2B5EF4-FFF2-40B4-BE49-F238E27FC236}">
                <a16:creationId xmlns:a16="http://schemas.microsoft.com/office/drawing/2014/main" id="{5BFD01FC-7054-4982-9226-4C82161FC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7468" y="3844353"/>
            <a:ext cx="4027144" cy="301364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Похожее изображение">
            <a:extLst>
              <a:ext uri="{FF2B5EF4-FFF2-40B4-BE49-F238E27FC236}">
                <a16:creationId xmlns:a16="http://schemas.microsoft.com/office/drawing/2014/main" id="{B62111CB-FEB2-4701-8702-8281F01DE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212" y="4022411"/>
            <a:ext cx="3629025" cy="2835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9410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3E6ADC-7A29-417B-8B70-46BDE9E27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6640" y="517578"/>
            <a:ext cx="8911687" cy="128089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3)Кто допускается к ИА и ГИА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BEACBE-4F63-4EB8-8E51-E25498B25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904999"/>
            <a:ext cx="3763462" cy="4640179"/>
          </a:xfrm>
        </p:spPr>
        <p:txBody>
          <a:bodyPr>
            <a:normAutofit/>
          </a:bodyPr>
          <a:lstStyle/>
          <a:p>
            <a:r>
              <a:rPr lang="ru-RU" dirty="0"/>
              <a:t>К ИА и ГИА допускаются только те обучающиеся, которые имеют удовлетворительные результаты промежуточной аттестации. Таким образом, обеспечивается преемственность между данными видами контроля.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2E4381-6541-4A7A-B120-B2138306A9A3}"/>
              </a:ext>
            </a:extLst>
          </p:cNvPr>
          <p:cNvSpPr txBox="1"/>
          <p:nvPr/>
        </p:nvSpPr>
        <p:spPr>
          <a:xfrm>
            <a:off x="11498327" y="6396335"/>
            <a:ext cx="609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pic>
        <p:nvPicPr>
          <p:cNvPr id="6" name="Picture 12" descr="Картинки по запросу итоговая аттестация">
            <a:extLst>
              <a:ext uri="{FF2B5EF4-FFF2-40B4-BE49-F238E27FC236}">
                <a16:creationId xmlns:a16="http://schemas.microsoft.com/office/drawing/2014/main" id="{41BD8673-8872-49D5-A64A-82AFF71EE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7552" y="1798468"/>
            <a:ext cx="2390775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C4BC968-B007-4EF7-890E-70723BF94C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4865" y="4406649"/>
            <a:ext cx="3763462" cy="245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491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D4AEE0-4845-464C-BA62-4EAE7B6C1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68C764-6C03-4568-B255-22D7C1F7F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Мы узнали что такое промежуточная итоговая аттестация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сроки и порядок проведения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 также кто к ней допускается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0D4DC3-C976-4B07-91F7-8C3B6F4FA875}"/>
              </a:ext>
            </a:extLst>
          </p:cNvPr>
          <p:cNvSpPr txBox="1"/>
          <p:nvPr/>
        </p:nvSpPr>
        <p:spPr>
          <a:xfrm>
            <a:off x="11504612" y="6396335"/>
            <a:ext cx="609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pic>
        <p:nvPicPr>
          <p:cNvPr id="6" name="Picture 10" descr="Похожее изображение">
            <a:extLst>
              <a:ext uri="{FF2B5EF4-FFF2-40B4-BE49-F238E27FC236}">
                <a16:creationId xmlns:a16="http://schemas.microsoft.com/office/drawing/2014/main" id="{8429A2A3-F63E-4123-A43B-427F0EECE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2613" y="4022411"/>
            <a:ext cx="2941999" cy="294199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8887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4F4CBE-F76B-46FC-A4CE-CE44585A3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Литературы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2573B7-4CAF-4B2F-AD0E-2FA68CA33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http://fcoz.ru/obrazovatelnoe-pravo/analitika/obzory/detail.php?ELEMENT_ID=1999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https://base.garant.ru/70442918/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https://ciur.ru/izh/sl_izh/DocLib7/Forms/AllItems.aspx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https://base.garant.ru/70584436/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https://bal-sch1.edumsko.ru/attestation/pa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E44956-B5D0-4C6F-892F-166E43E43239}"/>
              </a:ext>
            </a:extLst>
          </p:cNvPr>
          <p:cNvSpPr txBox="1"/>
          <p:nvPr/>
        </p:nvSpPr>
        <p:spPr>
          <a:xfrm>
            <a:off x="11504612" y="6410475"/>
            <a:ext cx="609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pic>
        <p:nvPicPr>
          <p:cNvPr id="6" name="Picture 2" descr="Картинки по запросу книги">
            <a:extLst>
              <a:ext uri="{FF2B5EF4-FFF2-40B4-BE49-F238E27FC236}">
                <a16:creationId xmlns:a16="http://schemas.microsoft.com/office/drawing/2014/main" id="{3FA49A66-6752-40C1-913B-7C4D976AAF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573"/>
          <a:stretch/>
        </p:blipFill>
        <p:spPr bwMode="auto">
          <a:xfrm>
            <a:off x="2589213" y="5133474"/>
            <a:ext cx="8915400" cy="1724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1652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222355-01D2-4EC6-B281-481D6391C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5" y="334550"/>
            <a:ext cx="8911687" cy="128089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08C06F-DB16-4644-B8DA-F68BC9C4944A}"/>
              </a:ext>
            </a:extLst>
          </p:cNvPr>
          <p:cNvSpPr txBox="1"/>
          <p:nvPr/>
        </p:nvSpPr>
        <p:spPr>
          <a:xfrm>
            <a:off x="11504612" y="6396335"/>
            <a:ext cx="609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pic>
        <p:nvPicPr>
          <p:cNvPr id="4" name="Picture 8" descr="Картинки по запросу итоговая аттестация">
            <a:extLst>
              <a:ext uri="{FF2B5EF4-FFF2-40B4-BE49-F238E27FC236}">
                <a16:creationId xmlns:a16="http://schemas.microsoft.com/office/drawing/2014/main" id="{F3682B5E-B80E-4C9C-83CF-D1E3085396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20"/>
          <a:stretch/>
        </p:blipFill>
        <p:spPr bwMode="auto">
          <a:xfrm>
            <a:off x="2181304" y="1615440"/>
            <a:ext cx="7829391" cy="524256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3436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TM02892315[[fn=Легкий дым]]</Template>
  <TotalTime>102</TotalTime>
  <Words>268</Words>
  <Application>Microsoft Office PowerPoint</Application>
  <PresentationFormat>Широкоэкранный</PresentationFormat>
  <Paragraphs>30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Academy</vt:lpstr>
      <vt:lpstr>Arial</vt:lpstr>
      <vt:lpstr>Century Gothic</vt:lpstr>
      <vt:lpstr>Linux Libertine</vt:lpstr>
      <vt:lpstr>Times New Roman</vt:lpstr>
      <vt:lpstr>Wingdings 3</vt:lpstr>
      <vt:lpstr>Легкий дым</vt:lpstr>
      <vt:lpstr>                КОЛЛЕДЖ КОСМИЧЕСКОГО МАШИНОСТРОЕНИЯ И ТЕХНОЛОГИЙ  промежуточная и итоговая аттестация  </vt:lpstr>
      <vt:lpstr>Цель:разобраться что такое  промежуточная и итоговая аттестация  Задачи:  1)Определение что такое промежуточная итоговая аттестация   2)Сроки и порядок проведения промежуточной аттестаций  3) кто допускается к ИА и ГИА </vt:lpstr>
      <vt:lpstr>1)Определение  </vt:lpstr>
      <vt:lpstr>2)Сроки и порядок проведения промежуточной аттестаций  </vt:lpstr>
      <vt:lpstr>3)Кто допускается к ИА и ГИА</vt:lpstr>
      <vt:lpstr>Вывод:</vt:lpstr>
      <vt:lpstr>Список Литературы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         КОЛЛЕДЖ КОСМИЧЕСКОГО МАШИНОСТРОЕНИЯ И ТЕХНОЛОГИЙ  ГИА(Государственная итоговая аттестация) </dc:title>
  <dc:creator>Виталик Тенихин</dc:creator>
  <cp:lastModifiedBy>Виталик Тенихин</cp:lastModifiedBy>
  <cp:revision>2</cp:revision>
  <dcterms:created xsi:type="dcterms:W3CDTF">2022-01-22T11:21:26Z</dcterms:created>
  <dcterms:modified xsi:type="dcterms:W3CDTF">2022-01-22T14:33:30Z</dcterms:modified>
</cp:coreProperties>
</file>